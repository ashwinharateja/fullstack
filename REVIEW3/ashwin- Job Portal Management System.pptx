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71" r:id="rId11"/>
    <p:sldId id="266" r:id="rId12"/>
    <p:sldId id="269" r:id="rId13"/>
    <p:sldId id="267" r:id="rId14"/>
    <p:sldId id="268" r:id="rId15"/>
    <p:sldId id="273" r:id="rId16"/>
    <p:sldId id="272" r:id="rId17"/>
    <p:sldId id="265" r:id="rId18"/>
  </p:sldIdLst>
  <p:sldSz cx="18288000" cy="10287000"/>
  <p:notesSz cx="6858000" cy="9144000"/>
  <p:embeddedFontLst>
    <p:embeddedFont>
      <p:font typeface="Bookman Old Style" panose="02050604050505020204" pitchFamily="18"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197C12-7F8D-45E3-8BFF-040DDD5727BD}"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8478C4-7F16-4AB2-A592-437EF0E5DB50}" type="slidenum">
              <a:rPr lang="en-IN" smtClean="0"/>
              <a:t>‹#›</a:t>
            </a:fld>
            <a:endParaRPr lang="en-IN"/>
          </a:p>
        </p:txBody>
      </p:sp>
    </p:spTree>
    <p:extLst>
      <p:ext uri="{BB962C8B-B14F-4D97-AF65-F5344CB8AC3E}">
        <p14:creationId xmlns:p14="http://schemas.microsoft.com/office/powerpoint/2010/main" val="1154637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8478C4-7F16-4AB2-A592-437EF0E5DB50}" type="slidenum">
              <a:rPr lang="en-IN" smtClean="0"/>
              <a:t>12</a:t>
            </a:fld>
            <a:endParaRPr lang="en-IN"/>
          </a:p>
        </p:txBody>
      </p:sp>
    </p:spTree>
    <p:extLst>
      <p:ext uri="{BB962C8B-B14F-4D97-AF65-F5344CB8AC3E}">
        <p14:creationId xmlns:p14="http://schemas.microsoft.com/office/powerpoint/2010/main" val="4136955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484707" y="5894231"/>
            <a:ext cx="15784162" cy="646331"/>
          </a:xfrm>
          <a:prstGeom prst="rect">
            <a:avLst/>
          </a:prstGeom>
          <a:noFill/>
        </p:spPr>
        <p:txBody>
          <a:bodyPr wrap="square" rtlCol="0">
            <a:spAutoFit/>
          </a:bodyPr>
          <a:lstStyle/>
          <a:p>
            <a:pPr algn="ctr"/>
            <a:r>
              <a:rPr lang="en-IN" sz="3600" dirty="0"/>
              <a:t>JOB PORTAL MANAGEMENT SYSTEM</a:t>
            </a:r>
            <a:r>
              <a:rPr lang="en-US" sz="3600" dirty="0"/>
              <a:t> </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A.Ashwin</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HaraTeja</a:t>
            </a:r>
            <a:r>
              <a:rPr lang="en-US" sz="3000" dirty="0">
                <a:latin typeface="Cambria" panose="02040503050406030204" pitchFamily="18" charset="0"/>
                <a:ea typeface="Cambria" panose="02040503050406030204" pitchFamily="18" charset="0"/>
              </a:rPr>
              <a:t>– VTU26093 – Reg.No.23UECS0667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72800" y="7800539"/>
            <a:ext cx="72194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Hafizur Rahman- B.E., MTech.,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5407021" y="6782527"/>
            <a:ext cx="7939534"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a:t>
            </a:r>
            <a:r>
              <a:rPr lang="en-US" sz="2400" dirty="0">
                <a:latin typeface="Times New Roman" panose="02020603050405020304" pitchFamily="18" charset="0"/>
                <a:cs typeface="Times New Roman" panose="02020603050405020304" pitchFamily="18" charset="0"/>
              </a:rPr>
              <a:t>SDG 9 – Industry, Innovation and Infrastructure</a:t>
            </a:r>
            <a:endParaRPr lang="en-IN" sz="24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1" y="52969"/>
              <a:ext cx="660399" cy="735302"/>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0" y="343631"/>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96EB715E-216D-5C67-9419-A0F6773DB07D}"/>
              </a:ext>
            </a:extLst>
          </p:cNvPr>
          <p:cNvSpPr>
            <a:spLocks noChangeArrowheads="1"/>
          </p:cNvSpPr>
          <p:nvPr/>
        </p:nvSpPr>
        <p:spPr bwMode="auto">
          <a:xfrm>
            <a:off x="2357973" y="1544001"/>
            <a:ext cx="14428387" cy="8129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Managing job applications manually can lead to confusion, missed opportunities, and poor coordination between students and employers.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today’s digital world, connecting job seekers and employers efficiently is very important.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project aims to provide a simple and efficient Job Portal Management System.</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improves communication between students and employers through notifications and updates.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ensures a smooth and organized recruitment process.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application is built using Spring Boot, Thymeleaf, and MySQL.</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project demonstrates real-world web application development, CRUD operations.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0" y="5619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C364B5F-E4AD-F0B4-221D-2BD7D3BE89E6}"/>
              </a:ext>
            </a:extLst>
          </p:cNvPr>
          <p:cNvSpPr>
            <a:spLocks noChangeArrowheads="1"/>
          </p:cNvSpPr>
          <p:nvPr/>
        </p:nvSpPr>
        <p:spPr bwMode="auto">
          <a:xfrm>
            <a:off x="1634177" y="1220059"/>
            <a:ext cx="15944466" cy="8129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handling of job applications often leads to confusion and miscommunication between students and employers.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Job seekers may miss important job opportunities due to the absence of a centralized platform.</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Application processes are not well organized and can result in data loss or missed tracking.</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Job details are not easily accessible to all students in a structured way.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Managing multiple job postings and applications manually becomes time-consuming for employers.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proper communication regarding application status (shortlisted/rejected) affects user experience.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efficient system to update or delete job postings dynamically.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Difficulty in tracking applied jobs and monitoring recruitment progress.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64A95B6B-29D1-B0DD-28A2-15D4311E5440}"/>
              </a:ext>
            </a:extLst>
          </p:cNvPr>
          <p:cNvSpPr>
            <a:spLocks noChangeArrowheads="1"/>
          </p:cNvSpPr>
          <p:nvPr/>
        </p:nvSpPr>
        <p:spPr bwMode="auto">
          <a:xfrm>
            <a:off x="1811796" y="1741462"/>
            <a:ext cx="15011400" cy="739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develop a Job Portal Management System for efficient recruitment and job application handling.</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allow students to view all available job opportunities in a centralized platform.</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enable students to apply for jobs easily through an online system.</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provide a system for tracking application status (Applied, Shortlisted, Rejected).</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allow employers to post, update, and delete job listings.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manage all user, job, and application data in a structured database.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communication between students and employers through notifications.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reduce manual work and streamline the hiring process.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build a real-time, user-friendly web application using modern technologies.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647700" y="611464"/>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56E48E98-6A21-E490-5EAA-BD42A47D8660}"/>
              </a:ext>
            </a:extLst>
          </p:cNvPr>
          <p:cNvSpPr>
            <a:spLocks noChangeArrowheads="1"/>
          </p:cNvSpPr>
          <p:nvPr/>
        </p:nvSpPr>
        <p:spPr bwMode="auto">
          <a:xfrm>
            <a:off x="1630824" y="1980513"/>
            <a:ext cx="15697200" cy="739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proposed system is a web-based Job Portal Management System developed using Spring Boot, Thymeleaf, and MySQL.</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allows students to view all available job opportunities and access job details in a centralized platform.</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Students can easily apply for jobs and track their application status through an online system.</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Employers can create, update, and delete job postings dynamically using the system.</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 user, job, and application data are securely stored in a MySQL database.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provides a user-friendly interface for both students and employers.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reduces manual work involved in managing job applications and recruitment processes.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improves efficiency, transparency, and communication between students and employers.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F7A1B18-1CC7-D2E1-3810-D8DE96B3EFB7}"/>
              </a:ext>
            </a:extLst>
          </p:cNvPr>
          <p:cNvPicPr>
            <a:picLocks noChangeAspect="1"/>
          </p:cNvPicPr>
          <p:nvPr/>
        </p:nvPicPr>
        <p:blipFill>
          <a:blip r:embed="rId3"/>
          <a:stretch>
            <a:fillRect/>
          </a:stretch>
        </p:blipFill>
        <p:spPr>
          <a:xfrm>
            <a:off x="1981200" y="1414478"/>
            <a:ext cx="15045337" cy="84675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61320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3934671-95B7-647A-6DC5-0A3F48B4C00E}"/>
              </a:ext>
            </a:extLst>
          </p:cNvPr>
          <p:cNvPicPr>
            <a:picLocks noChangeAspect="1"/>
          </p:cNvPicPr>
          <p:nvPr/>
        </p:nvPicPr>
        <p:blipFill>
          <a:blip r:embed="rId3"/>
          <a:stretch>
            <a:fillRect/>
          </a:stretch>
        </p:blipFill>
        <p:spPr>
          <a:xfrm>
            <a:off x="3581400" y="1638300"/>
            <a:ext cx="11618289" cy="77455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D267284-70A5-08D4-3FB6-EB5089887292}"/>
              </a:ext>
            </a:extLst>
          </p:cNvPr>
          <p:cNvSpPr txBox="1"/>
          <p:nvPr/>
        </p:nvSpPr>
        <p:spPr>
          <a:xfrm>
            <a:off x="2286000" y="1043013"/>
            <a:ext cx="9448800" cy="932563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Frontend:</a:t>
            </a:r>
          </a:p>
          <a:p>
            <a:r>
              <a:rPr lang="en-IN" sz="2000" dirty="0">
                <a:latin typeface="Times New Roman" panose="02020603050405020304" pitchFamily="18" charset="0"/>
                <a:cs typeface="Times New Roman" panose="02020603050405020304" pitchFamily="18" charset="0"/>
              </a:rPr>
              <a:t>HTML5</a:t>
            </a:r>
          </a:p>
          <a:p>
            <a:r>
              <a:rPr lang="en-IN" sz="2000" dirty="0">
                <a:latin typeface="Times New Roman" panose="02020603050405020304" pitchFamily="18" charset="0"/>
                <a:cs typeface="Times New Roman" panose="02020603050405020304" pitchFamily="18" charset="0"/>
              </a:rPr>
              <a:t>CSS3</a:t>
            </a:r>
          </a:p>
          <a:p>
            <a:r>
              <a:rPr lang="en-IN" sz="2000" dirty="0" err="1">
                <a:latin typeface="Times New Roman" panose="02020603050405020304" pitchFamily="18" charset="0"/>
                <a:cs typeface="Times New Roman" panose="02020603050405020304" pitchFamily="18" charset="0"/>
              </a:rPr>
              <a:t>Thymeleaf</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JavaScript (for dynamic interactions and chatbot)</a:t>
            </a:r>
          </a:p>
          <a:p>
            <a:r>
              <a:rPr lang="en-IN" sz="2000" b="1" dirty="0">
                <a:latin typeface="Times New Roman" panose="02020603050405020304" pitchFamily="18" charset="0"/>
                <a:cs typeface="Times New Roman" panose="02020603050405020304" pitchFamily="18" charset="0"/>
              </a:rPr>
              <a:t>Backend:</a:t>
            </a:r>
          </a:p>
          <a:p>
            <a:r>
              <a:rPr lang="en-IN" sz="2000" dirty="0">
                <a:latin typeface="Times New Roman" panose="02020603050405020304" pitchFamily="18" charset="0"/>
                <a:cs typeface="Times New Roman" panose="02020603050405020304" pitchFamily="18" charset="0"/>
              </a:rPr>
              <a:t>Spring Boot</a:t>
            </a:r>
          </a:p>
          <a:p>
            <a:r>
              <a:rPr lang="en-IN" sz="2000" dirty="0">
                <a:latin typeface="Times New Roman" panose="02020603050405020304" pitchFamily="18" charset="0"/>
                <a:cs typeface="Times New Roman" panose="02020603050405020304" pitchFamily="18" charset="0"/>
              </a:rPr>
              <a:t>Spring MVC</a:t>
            </a:r>
          </a:p>
          <a:p>
            <a:r>
              <a:rPr lang="en-IN" sz="2000" dirty="0">
                <a:latin typeface="Times New Roman" panose="02020603050405020304" pitchFamily="18" charset="0"/>
                <a:cs typeface="Times New Roman" panose="02020603050405020304" pitchFamily="18" charset="0"/>
              </a:rPr>
              <a:t>Spring Security</a:t>
            </a:r>
          </a:p>
          <a:p>
            <a:r>
              <a:rPr lang="en-IN" sz="2000" dirty="0">
                <a:latin typeface="Times New Roman" panose="02020603050405020304" pitchFamily="18" charset="0"/>
                <a:cs typeface="Times New Roman" panose="02020603050405020304" pitchFamily="18" charset="0"/>
              </a:rPr>
              <a:t>Java Mail Sender (for Email Verification / OTP)</a:t>
            </a:r>
          </a:p>
          <a:p>
            <a:r>
              <a:rPr lang="en-IN" sz="2000" b="1" dirty="0">
                <a:latin typeface="Times New Roman" panose="02020603050405020304" pitchFamily="18" charset="0"/>
                <a:cs typeface="Times New Roman" panose="02020603050405020304" pitchFamily="18" charset="0"/>
              </a:rPr>
              <a:t>Database:</a:t>
            </a:r>
          </a:p>
          <a:p>
            <a:r>
              <a:rPr lang="en-IN" sz="2000" dirty="0">
                <a:latin typeface="Times New Roman" panose="02020603050405020304" pitchFamily="18" charset="0"/>
                <a:cs typeface="Times New Roman" panose="02020603050405020304" pitchFamily="18" charset="0"/>
              </a:rPr>
              <a:t>MySQL</a:t>
            </a:r>
          </a:p>
          <a:p>
            <a:r>
              <a:rPr lang="en-IN" sz="2000" dirty="0">
                <a:latin typeface="Times New Roman" panose="02020603050405020304" pitchFamily="18" charset="0"/>
                <a:cs typeface="Times New Roman" panose="02020603050405020304" pitchFamily="18" charset="0"/>
              </a:rPr>
              <a:t>H2 Database (for development/testing)</a:t>
            </a:r>
          </a:p>
          <a:p>
            <a:r>
              <a:rPr lang="en-IN" sz="2000" b="1" dirty="0">
                <a:latin typeface="Times New Roman" panose="02020603050405020304" pitchFamily="18" charset="0"/>
                <a:cs typeface="Times New Roman" panose="02020603050405020304" pitchFamily="18" charset="0"/>
              </a:rPr>
              <a:t>Server:</a:t>
            </a:r>
          </a:p>
          <a:p>
            <a:r>
              <a:rPr lang="en-IN" sz="2000" dirty="0">
                <a:latin typeface="Times New Roman" panose="02020603050405020304" pitchFamily="18" charset="0"/>
                <a:cs typeface="Times New Roman" panose="02020603050405020304" pitchFamily="18" charset="0"/>
              </a:rPr>
              <a:t>Apache Tomcat Server</a:t>
            </a:r>
          </a:p>
          <a:p>
            <a:r>
              <a:rPr lang="en-IN" sz="2000" b="1" dirty="0">
                <a:latin typeface="Times New Roman" panose="02020603050405020304" pitchFamily="18" charset="0"/>
                <a:cs typeface="Times New Roman" panose="02020603050405020304" pitchFamily="18" charset="0"/>
              </a:rPr>
              <a:t>Tools:</a:t>
            </a:r>
          </a:p>
          <a:p>
            <a:r>
              <a:rPr lang="en-IN" sz="2000" dirty="0">
                <a:latin typeface="Times New Roman" panose="02020603050405020304" pitchFamily="18" charset="0"/>
                <a:cs typeface="Times New Roman" panose="02020603050405020304" pitchFamily="18" charset="0"/>
              </a:rPr>
              <a:t>Visual Studio Code / IntelliJ IDEA</a:t>
            </a:r>
          </a:p>
          <a:p>
            <a:r>
              <a:rPr lang="en-IN" sz="2000" dirty="0">
                <a:latin typeface="Times New Roman" panose="02020603050405020304" pitchFamily="18" charset="0"/>
                <a:cs typeface="Times New Roman" panose="02020603050405020304" pitchFamily="18" charset="0"/>
              </a:rPr>
              <a:t>MySQL Workbench</a:t>
            </a:r>
          </a:p>
          <a:p>
            <a:r>
              <a:rPr lang="en-IN" sz="2000" dirty="0">
                <a:latin typeface="Times New Roman" panose="02020603050405020304" pitchFamily="18" charset="0"/>
                <a:cs typeface="Times New Roman" panose="02020603050405020304" pitchFamily="18" charset="0"/>
              </a:rPr>
              <a:t>Postman (API Testing)</a:t>
            </a:r>
          </a:p>
          <a:p>
            <a:r>
              <a:rPr lang="en-IN" sz="2000" dirty="0">
                <a:latin typeface="Times New Roman" panose="02020603050405020304" pitchFamily="18" charset="0"/>
                <a:cs typeface="Times New Roman" panose="02020603050405020304" pitchFamily="18" charset="0"/>
              </a:rPr>
              <a:t>Web Browser (Google Chrome)</a:t>
            </a:r>
          </a:p>
          <a:p>
            <a:r>
              <a:rPr lang="en-IN" sz="2000" b="1" dirty="0">
                <a:latin typeface="Times New Roman" panose="02020603050405020304" pitchFamily="18" charset="0"/>
                <a:cs typeface="Times New Roman" panose="02020603050405020304" pitchFamily="18" charset="0"/>
              </a:rPr>
              <a:t>Hardware / Software Requirements:</a:t>
            </a:r>
          </a:p>
          <a:p>
            <a:r>
              <a:rPr lang="en-IN" sz="2000" b="1" dirty="0">
                <a:latin typeface="Times New Roman" panose="02020603050405020304" pitchFamily="18" charset="0"/>
                <a:cs typeface="Times New Roman" panose="02020603050405020304" pitchFamily="18" charset="0"/>
              </a:rPr>
              <a:t>System Requirements:</a:t>
            </a:r>
          </a:p>
          <a:p>
            <a:r>
              <a:rPr lang="en-IN" sz="2000" dirty="0">
                <a:latin typeface="Times New Roman" panose="02020603050405020304" pitchFamily="18" charset="0"/>
                <a:cs typeface="Times New Roman" panose="02020603050405020304" pitchFamily="18" charset="0"/>
              </a:rPr>
              <a:t>Operating System: Windows 10 or above</a:t>
            </a:r>
          </a:p>
          <a:p>
            <a:r>
              <a:rPr lang="en-IN" sz="2000" dirty="0">
                <a:latin typeface="Times New Roman" panose="02020603050405020304" pitchFamily="18" charset="0"/>
                <a:cs typeface="Times New Roman" panose="02020603050405020304" pitchFamily="18" charset="0"/>
              </a:rPr>
              <a:t>RAM: Minimum 4GB (Recommended 8GB)</a:t>
            </a:r>
          </a:p>
          <a:p>
            <a:r>
              <a:rPr lang="en-IN" sz="2000" dirty="0">
                <a:latin typeface="Times New Roman" panose="02020603050405020304" pitchFamily="18" charset="0"/>
                <a:cs typeface="Times New Roman" panose="02020603050405020304" pitchFamily="18" charset="0"/>
              </a:rPr>
              <a:t>Processor: Intel i3 or higher</a:t>
            </a:r>
          </a:p>
          <a:p>
            <a:r>
              <a:rPr lang="en-IN" sz="2000" b="1"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Java JDK (17 or above)</a:t>
            </a:r>
          </a:p>
          <a:p>
            <a:r>
              <a:rPr lang="en-IN" sz="2000" dirty="0">
                <a:latin typeface="Times New Roman" panose="02020603050405020304" pitchFamily="18" charset="0"/>
                <a:cs typeface="Times New Roman" panose="02020603050405020304" pitchFamily="18" charset="0"/>
              </a:rPr>
              <a:t>Apache Tomcat Server</a:t>
            </a:r>
          </a:p>
          <a:p>
            <a:r>
              <a:rPr lang="en-IN" sz="2000" dirty="0">
                <a:latin typeface="Times New Roman" panose="02020603050405020304" pitchFamily="18" charset="0"/>
                <a:cs typeface="Times New Roman" panose="02020603050405020304" pitchFamily="18" charset="0"/>
              </a:rPr>
              <a:t>MySQL Server</a:t>
            </a:r>
          </a:p>
          <a:p>
            <a:r>
              <a:rPr lang="en-IN" sz="2000" dirty="0">
                <a:latin typeface="Times New Roman" panose="02020603050405020304" pitchFamily="18" charset="0"/>
                <a:cs typeface="Times New Roman" panose="02020603050405020304" pitchFamily="18" charset="0"/>
              </a:rPr>
              <a:t>Maven (Build Tool)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9A1BCE7C-890E-A01E-691E-1D3D07CF6333}"/>
              </a:ext>
            </a:extLst>
          </p:cNvPr>
          <p:cNvSpPr txBox="1"/>
          <p:nvPr/>
        </p:nvSpPr>
        <p:spPr>
          <a:xfrm>
            <a:off x="381000" y="53474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34BA685-8E6C-CBBE-E29C-DD4001FCF0F9}"/>
              </a:ext>
            </a:extLst>
          </p:cNvPr>
          <p:cNvSpPr txBox="1"/>
          <p:nvPr/>
        </p:nvSpPr>
        <p:spPr>
          <a:xfrm>
            <a:off x="2065710" y="1897797"/>
            <a:ext cx="14719458" cy="6651821"/>
          </a:xfrm>
          <a:prstGeom prst="rect">
            <a:avLst/>
          </a:prstGeom>
          <a:noFill/>
        </p:spPr>
        <p:txBody>
          <a:bodyPr wrap="square">
            <a:spAutoFit/>
          </a:bodyPr>
          <a:lstStyle/>
          <a:p>
            <a:pPr>
              <a:lnSpc>
                <a:spcPct val="150000"/>
              </a:lnSpc>
              <a:buNone/>
            </a:pPr>
            <a:r>
              <a:rPr lang="en-US" sz="3200" b="1" dirty="0">
                <a:latin typeface="Times New Roman" panose="02020603050405020304" pitchFamily="18" charset="0"/>
                <a:cs typeface="Times New Roman" panose="02020603050405020304" pitchFamily="18" charset="0"/>
              </a:rPr>
              <a:t>Module 1: User Authentication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Handles login and registration for Students and Employers using secure authentication.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Restricts unauthorized access based on user roles (Student / Employer).</a:t>
            </a:r>
          </a:p>
          <a:p>
            <a:pPr>
              <a:lnSpc>
                <a:spcPct val="150000"/>
              </a:lnSpc>
              <a:buNone/>
            </a:pPr>
            <a:r>
              <a:rPr lang="en-US" sz="3200" b="1" dirty="0">
                <a:latin typeface="Times New Roman" panose="02020603050405020304" pitchFamily="18" charset="0"/>
                <a:cs typeface="Times New Roman" panose="02020603050405020304" pitchFamily="18" charset="0"/>
              </a:rPr>
              <a:t>Module 2: Job Management (Employer Side)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Allows employers to post new jobs with title, description, skills, salary, and location.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Provides options to update and delete job postings using CRUD operations.</a:t>
            </a:r>
          </a:p>
          <a:p>
            <a:pPr>
              <a:lnSpc>
                <a:spcPct val="150000"/>
              </a:lnSpc>
              <a:buNone/>
            </a:pPr>
            <a:r>
              <a:rPr lang="en-US" sz="3200" b="1" dirty="0">
                <a:latin typeface="Times New Roman" panose="02020603050405020304" pitchFamily="18" charset="0"/>
                <a:cs typeface="Times New Roman" panose="02020603050405020304" pitchFamily="18" charset="0"/>
              </a:rPr>
              <a:t>Module 3: Student Interaction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Allows students to browse available jobs in the system.</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View detailed job information using web pages and APIs.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D11C6089-C7FB-1630-76F3-436933AC4D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F9051B8-2F0C-2B28-E712-024326CDC80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0CC25BFD-9F33-B354-2C6B-46141F662D0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E2F353B4-9051-7E1C-D730-E278A624DBF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2CA6D8F3-E5AD-ACC9-3E2F-8093D0EC1436}"/>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77243167-3631-1238-ECB5-56D40090A9E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4BD27425-6034-4F24-AC3F-B9D8D86B605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FC926296-A31F-64DE-EF75-3A8FC46BF2A1}"/>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DBADBDF-5496-BCA1-217E-123775794CF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BFC4AF00-F539-8BE1-2FF7-CB5DC8FE1F3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A00FA4B4-ED28-1F11-7147-57714867225C}"/>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54808F9B-EA5E-4F92-F904-EE3CD2D287F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374C585-0B13-E947-AA57-5C0A8BC064D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83296DC5-7C41-6B97-2B7A-2F086879132B}"/>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A454F16-1685-58E0-A2EE-CDB1BBC7EC7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D632FDD4-6ADB-4792-A912-4EA39118DC7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956844C1-5330-4D9A-868A-F538F7A49194}"/>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8ACF313A-7456-8E4D-FA34-1B8573E2167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FA2A94B-7488-E352-16D2-AC710C2629B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AA63740-F0B1-790A-55F0-F6AD50300418}"/>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58BF15E-45A2-3144-396D-CB3FCA9C9A7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C34518EE-DE33-4BCB-1B7D-C533923950A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87E543B-E644-FDA2-909E-770EA0A0E3DC}"/>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BE6F7A17-C226-403C-03FA-9D980C9384C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37904F13-2C80-78BF-F222-4BBF87CD1DE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058B01BE-0DFD-953C-7BE9-1CF74B9457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3A74DF47-1669-2243-9FAE-2B42147C3A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7E00A97F-E5A0-3054-40EC-2352A8029D4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1C7F9F4D-4FFF-075A-52EC-A5D697771B2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5FFE7226-F3A2-2D1C-F375-6C3C0E3F1BC6}"/>
              </a:ext>
            </a:extLst>
          </p:cNvPr>
          <p:cNvSpPr txBox="1"/>
          <p:nvPr/>
        </p:nvSpPr>
        <p:spPr>
          <a:xfrm>
            <a:off x="381000" y="53474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0080A00-DFBF-6410-D7D8-5AE4E9B4A664}"/>
              </a:ext>
            </a:extLst>
          </p:cNvPr>
          <p:cNvSpPr>
            <a:spLocks noChangeArrowheads="1"/>
          </p:cNvSpPr>
          <p:nvPr/>
        </p:nvSpPr>
        <p:spPr bwMode="auto">
          <a:xfrm>
            <a:off x="2057400" y="2161050"/>
            <a:ext cx="16687800" cy="6651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3200" b="1" dirty="0">
                <a:latin typeface="Times New Roman" panose="02020603050405020304" pitchFamily="18" charset="0"/>
                <a:cs typeface="Times New Roman" panose="02020603050405020304" pitchFamily="18" charset="0"/>
              </a:rPr>
              <a:t>Module 4: Job Application Management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Students can apply for jobs through an online form.</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Students can view and track application status (Applied, Shortlisted, Rejected).</a:t>
            </a:r>
          </a:p>
          <a:p>
            <a:pPr>
              <a:lnSpc>
                <a:spcPct val="150000"/>
              </a:lnSpc>
            </a:pPr>
            <a:r>
              <a:rPr lang="en-US" sz="3200" b="1" dirty="0">
                <a:latin typeface="Times New Roman" panose="02020603050405020304" pitchFamily="18" charset="0"/>
                <a:cs typeface="Times New Roman" panose="02020603050405020304" pitchFamily="18" charset="0"/>
              </a:rPr>
              <a:t>Module 5: Search &amp; Filters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Search jobs based on location, skills, and experience.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Displays filtered results dynamically for better user experience.</a:t>
            </a:r>
          </a:p>
          <a:p>
            <a:pPr>
              <a:lnSpc>
                <a:spcPct val="150000"/>
              </a:lnSpc>
            </a:pPr>
            <a:r>
              <a:rPr lang="en-US" sz="3200" b="1" dirty="0">
                <a:latin typeface="Times New Roman" panose="02020603050405020304" pitchFamily="18" charset="0"/>
                <a:cs typeface="Times New Roman" panose="02020603050405020304" pitchFamily="18" charset="0"/>
              </a:rPr>
              <a:t>Module 6: Notification System</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Sends email notifications to students when application status changes.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Notifies employers when a new application is received.</a:t>
            </a:r>
          </a:p>
        </p:txBody>
      </p:sp>
    </p:spTree>
    <p:extLst>
      <p:ext uri="{BB962C8B-B14F-4D97-AF65-F5344CB8AC3E}">
        <p14:creationId xmlns:p14="http://schemas.microsoft.com/office/powerpoint/2010/main" val="815622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3063" y="102752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1E1D1DB-0875-0449-9B3F-0825D60A9F08}"/>
              </a:ext>
            </a:extLst>
          </p:cNvPr>
          <p:cNvSpPr txBox="1"/>
          <p:nvPr/>
        </p:nvSpPr>
        <p:spPr>
          <a:xfrm>
            <a:off x="2796995" y="7793962"/>
            <a:ext cx="13189221" cy="156966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image represents the login interface of the Job Portal Management System, designed with a modern and user-friendly layout. It allows users to securely sign in using their email and password to access personalized features of the platform. The interface also provides an option for new users to register, ensuring easy onboarding.</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751A991-7AA4-C060-95DD-88AD81086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1920174"/>
            <a:ext cx="5853901" cy="5280726"/>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B6CAD810-8433-9B89-E144-29986E25063F}"/>
              </a:ext>
            </a:extLst>
          </p:cNvPr>
          <p:cNvSpPr txBox="1"/>
          <p:nvPr/>
        </p:nvSpPr>
        <p:spPr>
          <a:xfrm>
            <a:off x="0" y="75375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18D2B5A-015A-9C52-C35E-9FDEC8786600}"/>
              </a:ext>
            </a:extLst>
          </p:cNvPr>
          <p:cNvSpPr txBox="1"/>
          <p:nvPr/>
        </p:nvSpPr>
        <p:spPr>
          <a:xfrm>
            <a:off x="2752725" y="8066432"/>
            <a:ext cx="12401550" cy="156966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image represents the dashboard of the Job Portal Management System after user login. It displays user profile details, application statistics, and current job application status in a structured interface. The dashboard also provides quick actions like browsing jobs, editing profile, and tracking application progress for better user experience.</a:t>
            </a:r>
          </a:p>
        </p:txBody>
      </p:sp>
      <p:pic>
        <p:nvPicPr>
          <p:cNvPr id="4" name="Picture 3">
            <a:extLst>
              <a:ext uri="{FF2B5EF4-FFF2-40B4-BE49-F238E27FC236}">
                <a16:creationId xmlns:a16="http://schemas.microsoft.com/office/drawing/2014/main" id="{5C51C4BE-99DC-C5EC-F33F-03EB8D5DEC0A}"/>
              </a:ext>
            </a:extLst>
          </p:cNvPr>
          <p:cNvPicPr>
            <a:picLocks noChangeAspect="1"/>
          </p:cNvPicPr>
          <p:nvPr/>
        </p:nvPicPr>
        <p:blipFill>
          <a:blip r:embed="rId4"/>
          <a:stretch>
            <a:fillRect/>
          </a:stretch>
        </p:blipFill>
        <p:spPr>
          <a:xfrm>
            <a:off x="3505200" y="1762483"/>
            <a:ext cx="10363200" cy="5777039"/>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638323CF-7DCB-075F-B739-0F88472F060D}"/>
              </a:ext>
            </a:extLst>
          </p:cNvPr>
          <p:cNvSpPr txBox="1"/>
          <p:nvPr/>
        </p:nvSpPr>
        <p:spPr>
          <a:xfrm>
            <a:off x="190500" y="77511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D0185C02-E382-E79D-8B72-DCFB013D8AD6}"/>
              </a:ext>
            </a:extLst>
          </p:cNvPr>
          <p:cNvSpPr txBox="1"/>
          <p:nvPr/>
        </p:nvSpPr>
        <p:spPr>
          <a:xfrm>
            <a:off x="3309256" y="7009132"/>
            <a:ext cx="12714385" cy="156966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image represents the employer dashboard of the Job Portal Management System used by companies to manage recruitment activities. It displays key metrics such as job posts, applications, shortlisted candidates, interviews, and hiring status. The interface also provides insights and analytics to help employers track candidate progress and make informed hiring decisions.</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B51C12F-3050-8323-4DA6-C7479B4A231E}"/>
              </a:ext>
            </a:extLst>
          </p:cNvPr>
          <p:cNvPicPr>
            <a:picLocks noChangeAspect="1"/>
          </p:cNvPicPr>
          <p:nvPr/>
        </p:nvPicPr>
        <p:blipFill>
          <a:blip r:embed="rId3"/>
          <a:stretch>
            <a:fillRect/>
          </a:stretch>
        </p:blipFill>
        <p:spPr>
          <a:xfrm>
            <a:off x="3810000" y="1855993"/>
            <a:ext cx="10591800" cy="489436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9B953180-DB27-F046-86E3-E3508247B406}"/>
              </a:ext>
            </a:extLst>
          </p:cNvPr>
          <p:cNvSpPr txBox="1"/>
          <p:nvPr/>
        </p:nvSpPr>
        <p:spPr>
          <a:xfrm>
            <a:off x="190500" y="94211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0786D1F2-E33E-7C68-F9A2-7B295412432F}"/>
              </a:ext>
            </a:extLst>
          </p:cNvPr>
          <p:cNvSpPr txBox="1"/>
          <p:nvPr/>
        </p:nvSpPr>
        <p:spPr>
          <a:xfrm>
            <a:off x="3048000" y="7804848"/>
            <a:ext cx="13265420" cy="193899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image shows a secure login verification email from the </a:t>
            </a:r>
            <a:r>
              <a:rPr lang="en-US" sz="2400" dirty="0" err="1">
                <a:latin typeface="Times New Roman" panose="02020603050405020304" pitchFamily="18" charset="0"/>
                <a:cs typeface="Times New Roman" panose="02020603050405020304" pitchFamily="18" charset="0"/>
              </a:rPr>
              <a:t>NexusJobs</a:t>
            </a:r>
            <a:r>
              <a:rPr lang="en-US" sz="2400" dirty="0">
                <a:latin typeface="Times New Roman" panose="02020603050405020304" pitchFamily="18" charset="0"/>
                <a:cs typeface="Times New Roman" panose="02020603050405020304" pitchFamily="18" charset="0"/>
              </a:rPr>
              <a:t> platform, designed to authenticate a user during the sign-in process. The system generates a one-time password (OTP), which is sent to the user’s registered email address to ensure that only authorized individuals can access the account. The OTP displayed in the email is valid for a limited duration of 5 minutes and can be used only once, enhancing security by preventing reuse or unauthorized access.</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03C4DFA-66DE-97DD-C5C2-D4AEBCDBAB9E}"/>
              </a:ext>
            </a:extLst>
          </p:cNvPr>
          <p:cNvPicPr>
            <a:picLocks noChangeAspect="1"/>
          </p:cNvPicPr>
          <p:nvPr/>
        </p:nvPicPr>
        <p:blipFill>
          <a:blip r:embed="rId3"/>
          <a:stretch>
            <a:fillRect/>
          </a:stretch>
        </p:blipFill>
        <p:spPr>
          <a:xfrm>
            <a:off x="3505200" y="1964336"/>
            <a:ext cx="10972800" cy="512568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30689CCC-7648-7E18-37AE-96FB4A34BCA6}"/>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57ADF788-99A4-39FC-BB97-195B3E68EFA8}"/>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4BDFFE89-1925-3EF2-42D5-C405765EBE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DE9B9E2-E917-E807-4D5A-4B838B0CF15C}"/>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F5612B15-787E-E8DF-8DA4-AC5F33CC0FB1}"/>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97348559-B814-5BBC-2FD2-D06B841AE88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F2C47D91-384D-517F-EAA5-7BBFC30EC66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E5E1127-5571-5E8F-A8A2-085D1C1CB5F1}"/>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83EFADC-371F-1EB0-66EE-9176F11C912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1398380-C61A-768B-7B31-3D615430C0C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060FC580-7C19-32E1-759B-145085C1FCE0}"/>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3CF2AC94-8D5A-3E30-1DCD-F930139548A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AD4581D-1EB4-1D8D-F325-88032515CB5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4B47EB79-07F2-2EAB-AD7D-FC054A4DE75E}"/>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F4AC51E1-44B3-F5C4-38C7-4BCCDA93C50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92190C5-EB44-B472-873D-7BE23725B1A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54FDF69-BE37-8049-348D-5F2E80C9F8E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EC5C4D98-1DB5-87AB-25CD-84D523F8585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E53273F-B509-DB3A-A58C-1A877A2BA27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22201C03-CB33-A72A-2F5A-75AB47203BB0}"/>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87DEBB4E-FF7B-4F1B-DD71-EBE2241CA50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CF8EEA3F-CFF8-970B-B188-4FE061907CC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D3B3FF87-0825-B6E5-372D-30AF2FB608C4}"/>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994FE6A7-C6F7-7DBE-E1BE-D858AF56A8C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04E7BB6D-ECF4-C9CE-888C-330C8228A97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DA40F69D-5DF6-D83A-6D2C-258D445A60E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E77294D3-2739-5908-A441-755760BED01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1BFB3BD1-81C6-58F4-0244-F1F14886D2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6644DC3D-D7FA-5E01-8045-7139831FBE49}"/>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5E6C262F-9505-6383-13B8-A3CCC0A85AD0}"/>
              </a:ext>
            </a:extLst>
          </p:cNvPr>
          <p:cNvSpPr txBox="1"/>
          <p:nvPr/>
        </p:nvSpPr>
        <p:spPr>
          <a:xfrm>
            <a:off x="190500" y="94211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FDE5BB3F-4623-4B9E-E65C-7520C6A8A53E}"/>
              </a:ext>
            </a:extLst>
          </p:cNvPr>
          <p:cNvSpPr txBox="1"/>
          <p:nvPr/>
        </p:nvSpPr>
        <p:spPr>
          <a:xfrm>
            <a:off x="2971800" y="7353300"/>
            <a:ext cx="13944600" cy="2677656"/>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image shows a professional email notification from Nexus Jobs informing the user about a new job offer. The message is clearly designed with a modern and attractive layout, featuring a gradient header and a structured content section. It greets the user personally and highlights the important update that a company, TechCorp Inc., has extended a job offer for the role of “DevOps Engineer.” The email uses icons and concise text to grab attention and convey excitement. It also includes a clear call-to-action button, “View My Dashboard,” encouraging the user to log in and respond promptly. Overall, the notification demonstrates an effective and user-friendly way of delivering important job-related updates.</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A2BA490-2075-CB3D-44E6-F65C118968ED}"/>
              </a:ext>
            </a:extLst>
          </p:cNvPr>
          <p:cNvPicPr>
            <a:picLocks noChangeAspect="1"/>
          </p:cNvPicPr>
          <p:nvPr/>
        </p:nvPicPr>
        <p:blipFill>
          <a:blip r:embed="rId3"/>
          <a:stretch>
            <a:fillRect/>
          </a:stretch>
        </p:blipFill>
        <p:spPr>
          <a:xfrm>
            <a:off x="3467100" y="1793607"/>
            <a:ext cx="11696700" cy="5278818"/>
          </a:xfrm>
          <a:prstGeom prst="rect">
            <a:avLst/>
          </a:prstGeom>
        </p:spPr>
      </p:pic>
    </p:spTree>
    <p:extLst>
      <p:ext uri="{BB962C8B-B14F-4D97-AF65-F5344CB8AC3E}">
        <p14:creationId xmlns:p14="http://schemas.microsoft.com/office/powerpoint/2010/main" val="11779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AF5BA799-ECFB-F234-B236-934B1E3019CD}"/>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1A4B3C6-C3B0-A67E-21F7-CEF88CAC879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047B42A0-8291-3C76-2D6F-9BDEE50388C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DDF79F35-2B49-C370-AB9D-0CA119F2926C}"/>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AA5B2E36-2594-8544-2E7A-C16988973CAF}"/>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6AE30318-6899-7464-789B-3E658922DD5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5A1412BD-EF64-EB39-87B8-611DAB2260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1F039BF2-DC94-0BEF-2D75-C721E1C0F46D}"/>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E9277FD-EB91-891A-1074-B2E49E181C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9A12D265-A291-C426-FF3D-22D0B812C76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8E97A7A-7B08-C911-90C4-C563A71D586C}"/>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5C22C3E3-2070-8B9D-6D3A-A7CDF78CFF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F7708961-DFFF-62F4-69B8-516E5331EF5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5F454AB0-827A-302B-9100-513B2FAC7F46}"/>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071C4E4D-6F64-5B41-1F22-A982BE4E607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2EEBCF68-0DEE-7924-CE1A-AE7823F0989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823B0D4-81A1-ADD3-3605-D8BEED94BFD9}"/>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0DE8205-4C99-5B0A-3984-FACDBE88998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C01F94E4-9839-3FE6-64E3-46B49CBBCAC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331EC3BA-DA31-BCCC-C5D8-685847D18640}"/>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BDCA4DA1-C815-202A-1E4B-ABC60ADDF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F936890-9B75-7F5A-8630-699D01A9100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99BCC496-8144-F521-F080-65FF38A3447F}"/>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C301B56-7A87-9930-B9A0-F0B485D6100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79739889-D1D2-5375-E3C4-9B9D726D3BB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2CC1AAF-EA10-FD07-6040-8BC6DC5DD8FA}"/>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D367F4A2-22D0-4F20-E311-493C48F630D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900232F7-E03F-E0F3-E161-F1009CFE9C3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8103DD2D-0AD3-36AE-56F5-425177B44F88}"/>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TextBox 1">
            <a:extLst>
              <a:ext uri="{FF2B5EF4-FFF2-40B4-BE49-F238E27FC236}">
                <a16:creationId xmlns:a16="http://schemas.microsoft.com/office/drawing/2014/main" id="{B7A0CB9B-95D2-9B96-8455-E83BE67EA24B}"/>
              </a:ext>
            </a:extLst>
          </p:cNvPr>
          <p:cNvSpPr txBox="1"/>
          <p:nvPr/>
        </p:nvSpPr>
        <p:spPr>
          <a:xfrm>
            <a:off x="533400" y="40044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8780F5-7F0E-B38F-5A80-F536371FE8CA}"/>
              </a:ext>
            </a:extLst>
          </p:cNvPr>
          <p:cNvSpPr txBox="1"/>
          <p:nvPr/>
        </p:nvSpPr>
        <p:spPr>
          <a:xfrm>
            <a:off x="1854961" y="1146935"/>
            <a:ext cx="14049828" cy="8867812"/>
          </a:xfrm>
          <a:prstGeom prst="rect">
            <a:avLst/>
          </a:prstGeom>
          <a:noFill/>
        </p:spPr>
        <p:txBody>
          <a:bodyPr wrap="square">
            <a:spAutoFit/>
          </a:bodyPr>
          <a:lstStyle/>
          <a:p>
            <a:pPr>
              <a:lnSpc>
                <a:spcPct val="150000"/>
              </a:lnSpc>
              <a:buNone/>
            </a:pPr>
            <a:r>
              <a:rPr lang="en-US" sz="3200" b="1" dirty="0">
                <a:latin typeface="Times New Roman" panose="02020603050405020304" pitchFamily="18" charset="0"/>
                <a:cs typeface="Times New Roman" panose="02020603050405020304" pitchFamily="18" charset="0"/>
              </a:rPr>
              <a:t>Advantages:</a:t>
            </a:r>
          </a:p>
          <a:p>
            <a:pPr>
              <a:lnSpc>
                <a:spcPct val="150000"/>
              </a:lnSpc>
            </a:pPr>
            <a:r>
              <a:rPr lang="en-US" sz="3200" dirty="0">
                <a:latin typeface="Times New Roman" panose="02020603050405020304" pitchFamily="18" charset="0"/>
                <a:cs typeface="Times New Roman" panose="02020603050405020304" pitchFamily="18" charset="0"/>
              </a:rPr>
              <a:t>• Simple and user-friendly interface.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Supports CRUD operations for job and application management.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Role-based access for Students and Employers.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Centralized database for jobs and applications.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Easy job search with filters (location, skills, experience).</a:t>
            </a:r>
          </a:p>
          <a:p>
            <a:pPr>
              <a:lnSpc>
                <a:spcPct val="150000"/>
              </a:lnSpc>
            </a:pPr>
            <a:r>
              <a:rPr lang="en-US" sz="3200" b="1" dirty="0">
                <a:latin typeface="Times New Roman" panose="02020603050405020304" pitchFamily="18" charset="0"/>
                <a:cs typeface="Times New Roman" panose="02020603050405020304" pitchFamily="18" charset="0"/>
              </a:rPr>
              <a:t>Limitations:</a:t>
            </a:r>
          </a:p>
          <a:p>
            <a:pPr>
              <a:lnSpc>
                <a:spcPct val="150000"/>
              </a:lnSpc>
            </a:pPr>
            <a:r>
              <a:rPr lang="en-US" sz="3200" dirty="0">
                <a:latin typeface="Times New Roman" panose="02020603050405020304" pitchFamily="18" charset="0"/>
                <a:cs typeface="Times New Roman" panose="02020603050405020304" pitchFamily="18" charset="0"/>
              </a:rPr>
              <a:t>• Basic UI without advanced design.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Limited features (no advanced analytics).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Depends on local server setup.</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No mobile application support.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Limited scalability for large users.</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4796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827</TotalTime>
  <Words>1522</Words>
  <Application>Microsoft Office PowerPoint</Application>
  <PresentationFormat>Custom</PresentationFormat>
  <Paragraphs>242</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Bookman Old Style</vt:lpstr>
      <vt:lpstr>Calibri</vt:lpstr>
      <vt:lpstr>Gotham</vt:lpstr>
      <vt:lpstr>Gotham Bold Italics</vt:lpstr>
      <vt:lpstr>Cambria</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tejas</dc:creator>
  <cp:lastModifiedBy>dasarivasu827@gmail.com</cp:lastModifiedBy>
  <cp:revision>31</cp:revision>
  <dcterms:created xsi:type="dcterms:W3CDTF">2006-08-16T00:00:00Z</dcterms:created>
  <dcterms:modified xsi:type="dcterms:W3CDTF">2026-05-05T19:01:56Z</dcterms:modified>
  <dc:identifier>DAHCaYqJ9OU</dc:identifier>
</cp:coreProperties>
</file>